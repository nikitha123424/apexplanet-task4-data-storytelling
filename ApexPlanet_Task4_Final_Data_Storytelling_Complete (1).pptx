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Occasional</c:v>
                </c:pt>
                <c:pt idx="1">
                  <c:v>Regular</c:v>
                </c:pt>
                <c:pt idx="2">
                  <c:v>High Value</c:v>
                </c:pt>
                <c:pt idx="3">
                  <c:v>Low Value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409</c:v>
                </c:pt>
                <c:pt idx="1">
                  <c:v>331</c:v>
                </c:pt>
                <c:pt idx="2">
                  <c:v>155</c:v>
                </c:pt>
                <c:pt idx="3">
                  <c:v>52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Spending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High Value</c:v>
                </c:pt>
                <c:pt idx="1">
                  <c:v>Regular</c:v>
                </c:pt>
                <c:pt idx="2">
                  <c:v>Occasional</c:v>
                </c:pt>
                <c:pt idx="3">
                  <c:v>Low Value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52053313.59</c:v>
                </c:pt>
                <c:pt idx="1">
                  <c:v>49115956.55</c:v>
                </c:pt>
                <c:pt idx="2">
                  <c:v>22056367.97</c:v>
                </c:pt>
                <c:pt idx="3">
                  <c:v>16173801.54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ApexPlanet Internship – Task 4</a:t>
            </a:r>
          </a:p>
          <a:p>
            <a:pPr algn="ctr">
              <a:defRPr sz="2600" b="1">
                <a:solidFill>
                  <a:srgbClr val="BED7F5"/>
                </a:solidFill>
              </a:defRPr>
            </a:pPr>
            <a:r>
              <a:t>Data Storytelling &amp; Statistical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70332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Customer Analytics • Segmentation • Hypothesis 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4F"/>
                </a:solidFill>
              </a:defRPr>
            </a:pPr>
            <a:r>
              <a:t>Project Objective &amp; Dataset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42316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481328"/>
            <a:ext cx="227685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F344F"/>
                </a:solidFill>
              </a:defRPr>
            </a:pPr>
            <a:r>
              <a:t>1,000</a:t>
            </a:r>
          </a:p>
          <a:p>
            <a:pPr algn="ctr">
              <a:defRPr sz="1100">
                <a:solidFill>
                  <a:srgbClr val="646C76"/>
                </a:solidFill>
              </a:defRPr>
            </a:pPr>
            <a:r>
              <a:t>Transactions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371600"/>
            <a:ext cx="242316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02152" y="1481328"/>
            <a:ext cx="227685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F344F"/>
                </a:solidFill>
              </a:defRPr>
            </a:pPr>
            <a:r>
              <a:t>947</a:t>
            </a:r>
          </a:p>
          <a:p>
            <a:pPr algn="ctr">
              <a:defRPr sz="1100">
                <a:solidFill>
                  <a:srgbClr val="646C76"/>
                </a:solidFill>
              </a:defRPr>
            </a:pPr>
            <a:r>
              <a:t>Customers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242316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99632" y="1481328"/>
            <a:ext cx="227685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F344F"/>
                </a:solidFill>
              </a:defRPr>
            </a:pPr>
            <a:r>
              <a:t>15</a:t>
            </a:r>
          </a:p>
          <a:p>
            <a:pPr algn="ctr">
              <a:defRPr sz="1100">
                <a:solidFill>
                  <a:srgbClr val="646C76"/>
                </a:solidFill>
              </a:defRPr>
            </a:pPr>
            <a:r>
              <a:t>Dataset Columns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371600"/>
            <a:ext cx="242316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97112" y="1481328"/>
            <a:ext cx="227685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F344F"/>
                </a:solidFill>
              </a:defRPr>
            </a:pPr>
            <a:r>
              <a:t>5</a:t>
            </a:r>
          </a:p>
          <a:p>
            <a:pPr algn="ctr">
              <a:defRPr sz="1100">
                <a:solidFill>
                  <a:srgbClr val="646C76"/>
                </a:solidFill>
              </a:defRPr>
            </a:pPr>
            <a:r>
              <a:t>Categories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718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</a:defRPr>
            </a:pPr>
            <a:r>
              <a:t>• Build a clear business story from the sales analysis completed in previous tasks.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</a:defRPr>
            </a:pPr>
            <a:r>
              <a:t>• Understand customer purchasing behavior and identify meaningful customer groups.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</a:defRPr>
            </a:pPr>
            <a:r>
              <a:t>• Validate a business question using statistical hypothesis testing.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</a:defRPr>
            </a:pPr>
            <a:r>
              <a:t>• Convert the findings into practical recommendations for customer-focused decisions.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4F"/>
                </a:solidFill>
              </a:defRPr>
            </a:pPr>
            <a:r>
              <a:t>Sales Story –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</a:defRPr>
            </a:pPr>
            <a:r>
              <a:t>• Electronics generated the highest category sales: ₹50.78 million.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</a:defRPr>
            </a:pPr>
            <a:r>
              <a:t>• Patna recorded the highest city sales among the listed cities: approximately ₹19.29 million.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</a:defRPr>
            </a:pPr>
            <a:r>
              <a:t>• Laptop was the highest-selling product by total sales: approximately ₹25.44 million.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</a:defRPr>
            </a:pPr>
            <a:r>
              <a:t>• Male customers generated ₹72.46 million in sales, while female customers generated ₹66.94 million.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</a:defRPr>
            </a:pPr>
            <a:r>
              <a:t>• Overall sales across 1,000 orders were approximately ₹139.40 million.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4F"/>
                </a:solidFill>
              </a:defRPr>
            </a:pPr>
            <a:r>
              <a:t>Customer Segmentation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42316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1481328"/>
            <a:ext cx="227685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F344F"/>
                </a:solidFill>
              </a:defRPr>
            </a:pPr>
            <a:r>
              <a:t>409</a:t>
            </a:r>
          </a:p>
          <a:p>
            <a:pPr algn="ctr">
              <a:defRPr sz="1100">
                <a:solidFill>
                  <a:srgbClr val="646C76"/>
                </a:solidFill>
              </a:defRPr>
            </a:pPr>
            <a:r>
              <a:t>Occasional Customers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371600"/>
            <a:ext cx="242316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10712" y="1481328"/>
            <a:ext cx="227685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F344F"/>
                </a:solidFill>
              </a:defRPr>
            </a:pPr>
            <a:r>
              <a:t>331</a:t>
            </a:r>
          </a:p>
          <a:p>
            <a:pPr algn="ctr">
              <a:defRPr sz="1100">
                <a:solidFill>
                  <a:srgbClr val="646C76"/>
                </a:solidFill>
              </a:defRPr>
            </a:pPr>
            <a:r>
              <a:t>Regular Customers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371600"/>
            <a:ext cx="242316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08192" y="1481328"/>
            <a:ext cx="227685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F344F"/>
                </a:solidFill>
              </a:defRPr>
            </a:pPr>
            <a:r>
              <a:t>155</a:t>
            </a:r>
          </a:p>
          <a:p>
            <a:pPr algn="ctr">
              <a:defRPr sz="1100">
                <a:solidFill>
                  <a:srgbClr val="646C76"/>
                </a:solidFill>
              </a:defRPr>
            </a:pPr>
            <a:r>
              <a:t>High Value Customers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1371600"/>
            <a:ext cx="242316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05672" y="1481328"/>
            <a:ext cx="227685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F344F"/>
                </a:solidFill>
              </a:defRPr>
            </a:pPr>
            <a:r>
              <a:t>52</a:t>
            </a:r>
          </a:p>
          <a:p>
            <a:pPr algn="ctr">
              <a:defRPr sz="1100">
                <a:solidFill>
                  <a:srgbClr val="646C76"/>
                </a:solidFill>
              </a:defRPr>
            </a:pPr>
            <a:r>
              <a:t>Low Value Customers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632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</a:defRPr>
            </a:pPr>
            <a:r>
              <a:t>• Customers were grouped using customer-level purchasing behavior.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</a:defRPr>
            </a:pPr>
            <a:r>
              <a:t>• High Value Customers had the highest segment spending: approximately ₹52.05 million.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</a:defRPr>
            </a:pPr>
            <a:r>
              <a:t>• Occasional Customers form the largest segment, making purchase-frequency campaigns a key opportunity.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4F"/>
                </a:solidFill>
              </a:defRPr>
            </a:pPr>
            <a:r>
              <a:t>Customer Segment Distribution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188720" y="1234440"/>
          <a:ext cx="9784080" cy="4892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4F"/>
                </a:solidFill>
              </a:defRPr>
            </a:pPr>
            <a:r>
              <a:t>Spending by Customer Segment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234440"/>
          <a:ext cx="10241280" cy="4892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4F"/>
                </a:solidFill>
              </a:defRPr>
            </a:pPr>
            <a:r>
              <a:t>Business Insights from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</a:defRPr>
            </a:pPr>
            <a:r>
              <a:t>• High Value Customers are the most valuable segment and should receive strong retention and loyalty strategies.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</a:defRPr>
            </a:pPr>
            <a:r>
              <a:t>• Regular Customers provide a broad base for upselling, bundles and loyalty rewards.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</a:defRPr>
            </a:pPr>
            <a:r>
              <a:t>• Occasional Customers represent the largest group and offer the biggest opportunity to increase purchase frequency.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</a:defRPr>
            </a:pPr>
            <a:r>
              <a:t>• Low Value Customers should be approached with cost-effective campaigns and monitored for conversion.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</a:defRPr>
            </a:pPr>
            <a:r>
              <a:t>• Segmentation allows marketing efforts to be targeted by customer behavior rather than treating every customer the same.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4F"/>
                </a:solidFill>
              </a:defRPr>
            </a:pPr>
            <a:r>
              <a:t>Hypothesis Testing – Business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</a:defRPr>
            </a:pPr>
            <a:r>
              <a:t>• Business Question: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</a:defRPr>
            </a:pPr>
            <a:r>
              <a:t>• Do male and female customers have significantly different average sales per order?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</a:defRPr>
            </a:pPr>
            <a:r>
              <a:t>• 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</a:defRPr>
            </a:pPr>
            <a:r>
              <a:t>• Null Hypothesis (H₀): Male and female customers have the same average sales per order.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</a:defRPr>
            </a:pPr>
            <a:r>
              <a:t>• Alternative Hypothesis (H₁): Male and female customers have different average sales per order.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</a:defRPr>
            </a:pPr>
            <a:r>
              <a:t>• 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</a:defRPr>
            </a:pPr>
            <a:r>
              <a:t>• Statistical Test: Independent Two-Sample t-test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</a:defRPr>
            </a:pPr>
            <a:r>
              <a:t>• Significance Level: α = 0.05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4F"/>
                </a:solidFill>
              </a:defRPr>
            </a:pPr>
            <a:r>
              <a:t>Hypothesis Testing –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42316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1481328"/>
            <a:ext cx="227685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F344F"/>
                </a:solidFill>
              </a:defRPr>
            </a:pPr>
            <a:r>
              <a:t>₹141,807.34</a:t>
            </a:r>
          </a:p>
          <a:p>
            <a:pPr algn="ctr">
              <a:defRPr sz="1100">
                <a:solidFill>
                  <a:srgbClr val="646C76"/>
                </a:solidFill>
              </a:defRPr>
            </a:pPr>
            <a:r>
              <a:t>Male Average Sales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371600"/>
            <a:ext cx="242316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10712" y="1481328"/>
            <a:ext cx="227685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F344F"/>
                </a:solidFill>
              </a:defRPr>
            </a:pPr>
            <a:r>
              <a:t>₹136,883.21</a:t>
            </a:r>
          </a:p>
          <a:p>
            <a:pPr algn="ctr">
              <a:defRPr sz="1100">
                <a:solidFill>
                  <a:srgbClr val="646C76"/>
                </a:solidFill>
              </a:defRPr>
            </a:pPr>
            <a:r>
              <a:t>Female Average Sales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371600"/>
            <a:ext cx="242316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08192" y="1481328"/>
            <a:ext cx="227685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F344F"/>
                </a:solidFill>
              </a:defRPr>
            </a:pPr>
            <a:r>
              <a:t>0.6826</a:t>
            </a:r>
          </a:p>
          <a:p>
            <a:pPr algn="ctr">
              <a:defRPr sz="1100">
                <a:solidFill>
                  <a:srgbClr val="646C76"/>
                </a:solidFill>
              </a:defRPr>
            </a:pPr>
            <a:r>
              <a:t>t-statistic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1371600"/>
            <a:ext cx="242316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05672" y="1481328"/>
            <a:ext cx="227685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F344F"/>
                </a:solidFill>
              </a:defRPr>
            </a:pPr>
            <a:r>
              <a:t>0.495011</a:t>
            </a:r>
          </a:p>
          <a:p>
            <a:pPr algn="ctr">
              <a:defRPr sz="1100">
                <a:solidFill>
                  <a:srgbClr val="646C76"/>
                </a:solidFill>
              </a:defRPr>
            </a:pPr>
            <a:r>
              <a:t>p-value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632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</a:defRPr>
            </a:pPr>
            <a:r>
              <a:t>• 95% confidence interval for the mean difference: −₹9,214.68 to ₹19,062.94.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</a:defRPr>
            </a:pPr>
            <a:r>
              <a:t>• Since the p-value (0.495011) is greater than 0.05, the null hypothesis is not rejected.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4F"/>
                </a:solidFill>
              </a:defRPr>
            </a:pPr>
            <a:r>
              <a:t>Statistical Interpretation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280160"/>
            <a:ext cx="1033272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72768"/>
            <a:ext cx="9784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F344F"/>
                </a:solidFill>
              </a:defRPr>
            </a:pPr>
            <a:r>
              <a:t>Conclusion: Fail to reject H₀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</a:defRPr>
            </a:pPr>
            <a:r>
              <a:t>• There is not enough statistical evidence to conclude that male and female customers have different average sales per order.</a:t>
            </a:r>
          </a:p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</a:defRPr>
            </a:pPr>
            <a:r>
              <a:t>• The observed difference in sample averages is not statistically significant at the 5% level.</a:t>
            </a:r>
          </a:p>
          <a:p>
            <a:pPr>
              <a:spcAft>
                <a:spcPts val="1300"/>
              </a:spcAft>
              <a:defRPr sz="1800">
                <a:solidFill>
                  <a:srgbClr val="232323"/>
                </a:solidFill>
              </a:defRPr>
            </a:pPr>
            <a:r>
              <a:t>• Therefore, gender alone should not be treated as a strong basis for changing sales strategy based on this dataset.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4F"/>
                </a:solidFill>
              </a:defRPr>
            </a:pPr>
            <a:r>
              <a:t>Recommendations &amp; Call 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</a:defRPr>
            </a:pPr>
            <a:r>
              <a:t>• Retain High Value Customers with loyalty benefits and personalized offers.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</a:defRPr>
            </a:pPr>
            <a:r>
              <a:t>• Encourage Regular Customers to increase basket size through bundles and rewards.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</a:defRPr>
            </a:pPr>
            <a:r>
              <a:t>• Increase Occasional Customer purchase frequency with reminders and targeted promotions.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</a:defRPr>
            </a:pPr>
            <a:r>
              <a:t>• Use low-cost experiments for Low Value Customers before increasing campaign investment.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</a:defRPr>
            </a:pPr>
            <a:r>
              <a:t>• Call to action: use customer segments for targeted campaigns and monitor repeat purchases, sales and conversion to measure impact.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44F"/>
                </a:solidFill>
              </a:defRPr>
            </a:pPr>
            <a:r>
              <a:t>Final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</a:defRPr>
            </a:pPr>
            <a:r>
              <a:t>• The analysis transformed 1,000 transactions into customer and sales insights.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</a:defRPr>
            </a:pPr>
            <a:r>
              <a:t>• Electronics was the strongest sales category, while Laptop was the top product by sales.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</a:defRPr>
            </a:pPr>
            <a:r>
              <a:t>• Customer segmentation identified four groups with different business priorities.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</a:defRPr>
            </a:pPr>
            <a:r>
              <a:t>• High Value Customers contributed the largest segment spending.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</a:defRPr>
            </a:pPr>
            <a:r>
              <a:t>• Statistical testing found no significant evidence of a gender difference in average sales per order.</a:t>
            </a:r>
          </a:p>
          <a:p>
            <a:pPr>
              <a:spcAft>
                <a:spcPts val="1300"/>
              </a:spcAft>
              <a:defRPr sz="1700">
                <a:solidFill>
                  <a:srgbClr val="232323"/>
                </a:solidFill>
              </a:defRPr>
            </a:pPr>
            <a:r>
              <a:t>• Combining descriptive analytics, segmentation and statistical validation supports more informed business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715000"/>
            <a:ext cx="9418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46C76"/>
                </a:solidFill>
              </a:defRPr>
            </a:pPr>
            <a:r>
              <a:t>ApexPlanet Internship • Task 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64768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